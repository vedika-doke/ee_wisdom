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3931920"/>
            <a:ext cx="7772400" cy="437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65760"/>
            <a:ext cx="2011680" cy="268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005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C2410C"/>
                </a:solidFill>
                <a:latin typeface="Helvetica"/>
              </a:rPr>
              <a:t>WISH  ·  IIT BOMBAY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54864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800" b="1" i="0">
                <a:solidFill>
                  <a:srgbClr val="141824"/>
                </a:solidFill>
                <a:latin typeface="Arial Black"/>
              </a:rPr>
              <a:t>Rural Bus Tracking &amp;</a:t>
            </a:r>
          </a:p>
          <a:p>
            <a:pPr>
              <a:lnSpc>
                <a:spcPct val="105000"/>
              </a:lnSpc>
            </a:pPr>
            <a:r>
              <a:rPr sz="5800" b="1" i="0">
                <a:solidFill>
                  <a:srgbClr val="141824"/>
                </a:solidFill>
                <a:latin typeface="Arial Black"/>
              </a:rPr>
              <a:t>Passenger Information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0" i="1">
                <a:solidFill>
                  <a:srgbClr val="2A2E3A"/>
                </a:solidFill>
                <a:latin typeface="Georgia"/>
              </a:rPr>
              <a:t>Low-bandwidth GPS tracking, ETA prediction, multilingual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 i="0">
                <a:solidFill>
                  <a:srgbClr val="6B707D"/>
                </a:solidFill>
                <a:latin typeface="Helvetica"/>
              </a:rPr>
              <a:t>WISH Project   ·   IIT Bombay   ·   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2000" b="1" i="0">
                <a:solidFill>
                  <a:srgbClr val="E9B79A"/>
                </a:solidFill>
                <a:latin typeface="Arial Black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C2410C"/>
                </a:solidFill>
                <a:latin typeface="Helvetica"/>
              </a:rPr>
              <a:t>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154680"/>
            <a:ext cx="73152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338328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800" b="1" i="0">
                <a:solidFill>
                  <a:srgbClr val="141824"/>
                </a:solidFill>
                <a:latin typeface="Arial Black"/>
              </a:rPr>
              <a:t>Problem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Helvetica"/>
              </a:rPr>
              <a:t>RURALSYNC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4864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141824"/>
                </a:solidFill>
                <a:latin typeface="Arial Black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 i="1">
                <a:solidFill>
                  <a:srgbClr val="2A2E3A"/>
                </a:solidFill>
                <a:latin typeface="Georgia"/>
              </a:rPr>
              <a:t>Rural passengers have no reliable way to know when a bus will arrive — and existing trackers assume continuous 4G and a smartphone.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Patchy or absent mobile data along rural routes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Feature phones dominate; smartphone apps don't reach the audience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Multiple regional languages required, not just English / Hindi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Operators have no live view of route adherence or delays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286000"/>
            <a:ext cx="310896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Helvetica"/>
              </a:rPr>
              <a:t>RURALSYNC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4864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141824"/>
                </a:solidFill>
                <a:latin typeface="Arial Black"/>
              </a:rPr>
              <a:t>Project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 i="1">
                <a:solidFill>
                  <a:srgbClr val="2A2E3A"/>
                </a:solidFill>
                <a:latin typeface="Georgia"/>
              </a:rPr>
              <a:t>Build a system that meets passengers where they are — feature phone, SMS, IVR — and gives operators real visibility.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Track buses with low-cost hardware over intermittent networks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Predict accurate ETAs even during signal blackouts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Reach every passenger via SMS / IVR — no smartphone required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Alert passengers automatically when a bus diverts from its route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286000"/>
            <a:ext cx="3108960" cy="4145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2000" b="1" i="0">
                <a:solidFill>
                  <a:srgbClr val="E9B79A"/>
                </a:solidFill>
                <a:latin typeface="Arial Black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C2410C"/>
                </a:solidFill>
                <a:latin typeface="Helvetica"/>
              </a:rPr>
              <a:t>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154680"/>
            <a:ext cx="73152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338328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800" b="1" i="0">
                <a:solidFill>
                  <a:srgbClr val="141824"/>
                </a:solidFill>
                <a:latin typeface="Arial Black"/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Helvetica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4864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141824"/>
                </a:solidFill>
                <a:latin typeface="Arial Black"/>
              </a:rPr>
              <a:t>End-to-End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2743200"/>
            <a:ext cx="1828800" cy="1371600"/>
          </a:xfrm>
          <a:prstGeom prst="roundRect">
            <a:avLst/>
          </a:prstGeom>
          <a:solidFill>
            <a:srgbClr val="F5F0E6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3767" y="2743200"/>
            <a:ext cx="1828800" cy="10972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3767" y="3017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824"/>
                </a:solidFill>
                <a:latin typeface="Arial Black"/>
              </a:rPr>
              <a:t>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767" y="34290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07D"/>
                </a:solidFill>
                <a:latin typeface="Helvetica"/>
              </a:rPr>
              <a:t>GPS Hardware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9143" y="3429000"/>
            <a:ext cx="246888" cy="0"/>
          </a:xfrm>
          <a:prstGeom prst="line">
            <a:avLst/>
          </a:prstGeom>
          <a:ln w="19050">
            <a:solidFill>
              <a:srgbClr val="1418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ght Triangle 10"/>
          <p:cNvSpPr/>
          <p:nvPr/>
        </p:nvSpPr>
        <p:spPr>
          <a:xfrm rot="1800000">
            <a:off x="2922879" y="3374136"/>
            <a:ext cx="109728" cy="109728"/>
          </a:xfrm>
          <a:prstGeom prst="rtTriangle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32607" y="2743200"/>
            <a:ext cx="1828800" cy="1371600"/>
          </a:xfrm>
          <a:prstGeom prst="roundRect">
            <a:avLst/>
          </a:prstGeom>
          <a:solidFill>
            <a:srgbClr val="F5F0E6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32607" y="2743200"/>
            <a:ext cx="1828800" cy="10972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607" y="3017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824"/>
                </a:solidFill>
                <a:latin typeface="Arial Black"/>
              </a:rPr>
              <a:t>Person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2607" y="34290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07D"/>
                </a:solidFill>
                <a:latin typeface="Helvetica"/>
              </a:rPr>
              <a:t>Ingestion + DB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97983" y="3429000"/>
            <a:ext cx="246888" cy="0"/>
          </a:xfrm>
          <a:prstGeom prst="line">
            <a:avLst/>
          </a:prstGeom>
          <a:ln w="19050">
            <a:solidFill>
              <a:srgbClr val="1418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ight Triangle 16"/>
          <p:cNvSpPr/>
          <p:nvPr/>
        </p:nvSpPr>
        <p:spPr>
          <a:xfrm rot="1800000">
            <a:off x="5071719" y="3374136"/>
            <a:ext cx="109728" cy="109728"/>
          </a:xfrm>
          <a:prstGeom prst="rtTriangle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81447" y="2743200"/>
            <a:ext cx="1828800" cy="1371600"/>
          </a:xfrm>
          <a:prstGeom prst="roundRect">
            <a:avLst/>
          </a:prstGeom>
          <a:solidFill>
            <a:srgbClr val="F5F0E6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81447" y="2743200"/>
            <a:ext cx="1828800" cy="10972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1447" y="3017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824"/>
                </a:solidFill>
                <a:latin typeface="Arial Black"/>
              </a:rPr>
              <a:t>Person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447" y="34290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07D"/>
                </a:solidFill>
                <a:latin typeface="Helvetica"/>
              </a:rPr>
              <a:t>ETA Engine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46823" y="3429000"/>
            <a:ext cx="246888" cy="0"/>
          </a:xfrm>
          <a:prstGeom prst="line">
            <a:avLst/>
          </a:prstGeom>
          <a:ln w="19050">
            <a:solidFill>
              <a:srgbClr val="1418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ight Triangle 22"/>
          <p:cNvSpPr/>
          <p:nvPr/>
        </p:nvSpPr>
        <p:spPr>
          <a:xfrm rot="1800000">
            <a:off x="7220559" y="3374136"/>
            <a:ext cx="109728" cy="109728"/>
          </a:xfrm>
          <a:prstGeom prst="rtTriangle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30287" y="2743200"/>
            <a:ext cx="1828800" cy="1371600"/>
          </a:xfrm>
          <a:prstGeom prst="roundRect">
            <a:avLst/>
          </a:prstGeom>
          <a:solidFill>
            <a:srgbClr val="F5F0E6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30287" y="2743200"/>
            <a:ext cx="1828800" cy="10972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0287" y="3017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824"/>
                </a:solidFill>
                <a:latin typeface="Arial Black"/>
              </a:rPr>
              <a:t>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0287" y="34290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07D"/>
                </a:solidFill>
                <a:latin typeface="Helvetica"/>
              </a:rPr>
              <a:t>Positions / ETAs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95663" y="3429000"/>
            <a:ext cx="246888" cy="0"/>
          </a:xfrm>
          <a:prstGeom prst="line">
            <a:avLst/>
          </a:prstGeom>
          <a:ln w="19050">
            <a:solidFill>
              <a:srgbClr val="1418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ight Triangle 28"/>
          <p:cNvSpPr/>
          <p:nvPr/>
        </p:nvSpPr>
        <p:spPr>
          <a:xfrm rot="1800000">
            <a:off x="9369399" y="3374136"/>
            <a:ext cx="109728" cy="109728"/>
          </a:xfrm>
          <a:prstGeom prst="rtTriangle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79127" y="2743200"/>
            <a:ext cx="1828800" cy="1371600"/>
          </a:xfrm>
          <a:prstGeom prst="roundRect">
            <a:avLst/>
          </a:prstGeom>
          <a:solidFill>
            <a:srgbClr val="F5F0E6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79127" y="2743200"/>
            <a:ext cx="1828800" cy="10972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79127" y="30175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41824"/>
                </a:solidFill>
                <a:latin typeface="Arial Black"/>
              </a:rPr>
              <a:t>Person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9127" y="342900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B707D"/>
                </a:solidFill>
                <a:latin typeface="Helvetica"/>
              </a:rPr>
              <a:t>SMS · IVR · Dash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6B707D"/>
                </a:solidFill>
                <a:latin typeface="Georgia"/>
              </a:rPr>
              <a:t>Each layer owns a clear responsibility; the database is the contract between them.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0"/>
            <a:ext cx="4572000" cy="261257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Helvetica"/>
              </a:rPr>
              <a:t>RURALSYNC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4864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141824"/>
                </a:solidFill>
                <a:latin typeface="Arial Black"/>
              </a:rPr>
              <a:t>Three-Layer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 i="1">
                <a:solidFill>
                  <a:srgbClr val="2A2E3A"/>
                </a:solidFill>
                <a:latin typeface="Georgia"/>
              </a:rPr>
              <a:t>Responsibilities split across three contributors, glued together by a shared PostgreSQL + PostGIS database.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Bus hardware emits a GPS ping every 2 – 3 minutes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Person 1 — ingests, validates, deduplicates packets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Person 2 — derives position, ETA, status, divert alerts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Person 3 — delivers SMS, IVR, dashboard, stop-side display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286000"/>
            <a:ext cx="310896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2000" b="1" i="0">
                <a:solidFill>
                  <a:srgbClr val="E9B79A"/>
                </a:solidFill>
                <a:latin typeface="Arial Black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C2410C"/>
                </a:solidFill>
                <a:latin typeface="Helvetica"/>
              </a:rPr>
              <a:t>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154680"/>
            <a:ext cx="73152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338328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800" b="1" i="0">
                <a:solidFill>
                  <a:srgbClr val="141824"/>
                </a:solidFill>
                <a:latin typeface="Arial Black"/>
              </a:rPr>
              <a:t>Person 1 — Ingestion &amp;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Helvetica"/>
              </a:rPr>
              <a:t>RURALSYNC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4864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141824"/>
                </a:solidFill>
                <a:latin typeface="Arial Black"/>
              </a:rPr>
              <a:t>Responsibilities (P1)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 i="1">
                <a:solidFill>
                  <a:srgbClr val="2A2E3A"/>
                </a:solidFill>
                <a:latin typeface="Georgia"/>
              </a:rPr>
              <a:t>The data plumbing layer — converts raw bus pings into a clean stream the engine can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Receive GPS packets via HTTP, fall back to SMS gateway when offline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Validate, deduplicate, and clean incoming pings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Maintain canonical route data: stops + road polyline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Expose a clean stream of positions to the ETA engine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286000"/>
            <a:ext cx="3108960" cy="17765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Helvetica"/>
              </a:rPr>
              <a:t>RURALSYNC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4864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141824"/>
                </a:solidFill>
                <a:latin typeface="Arial Black"/>
              </a:rPr>
              <a:t>Route Data — Where the Polyline Comes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 i="1">
                <a:solidFill>
                  <a:srgbClr val="2A2E3A"/>
                </a:solidFill>
                <a:latin typeface="Georgia"/>
              </a:rPr>
              <a:t>A practical fallback chain so every route has geometry, even when authoritative data is missing.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OpenStreetMap + OSRM — automated polyline fetch (default)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Manual digitisation in QGIS / Google My Maps for missing roads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One test drive per route — most accurate, also seeds travel times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GTFS shapes.txt where available; Google Directions as paid fallback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286000"/>
            <a:ext cx="3108960" cy="4145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2000" b="1" i="0">
                <a:solidFill>
                  <a:srgbClr val="E9B79A"/>
                </a:solidFill>
                <a:latin typeface="Arial Black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C2410C"/>
                </a:solidFill>
                <a:latin typeface="Helvetica"/>
              </a:rPr>
              <a:t>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154680"/>
            <a:ext cx="73152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338328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800" b="1" i="0">
                <a:solidFill>
                  <a:srgbClr val="141824"/>
                </a:solidFill>
                <a:latin typeface="Arial Black"/>
              </a:rPr>
              <a:t>Person 2 — ETA &amp; Prediction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Helvetica"/>
              </a:rPr>
              <a:t>RURALSYNC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4864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141824"/>
                </a:solidFill>
                <a:latin typeface="Arial Black"/>
              </a:rPr>
              <a:t>The Four Jobs of the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 i="1">
                <a:solidFill>
                  <a:srgbClr val="2A2E3A"/>
                </a:solidFill>
                <a:latin typeface="Georgia"/>
              </a:rPr>
              <a:t>Turns raw lat/lon into something a passenger can actually act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ETA calculation — distance ÷ speed, refined by learned segment times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Network-loss prediction — dead-reckoning when pings stop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Historical learning — per-segment, per-time-of-day averages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Route adherence — 50 m geofence corridor with auto-alert on divert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286000"/>
            <a:ext cx="310896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Helvetica"/>
              </a:rPr>
              <a:t>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4864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600" b="1" i="0">
                <a:solidFill>
                  <a:srgbClr val="141824"/>
                </a:solidFill>
                <a:latin typeface="Arial Black"/>
              </a:rPr>
              <a:t>Prediction State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0" i="1">
                <a:solidFill>
                  <a:srgbClr val="2A2E3A"/>
                </a:solidFill>
                <a:latin typeface="Georgia"/>
              </a:rPr>
              <a:t>The status flag drives wording on every passenger-facing surface.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307" y="2926080"/>
            <a:ext cx="2560320" cy="3108960"/>
          </a:xfrm>
          <a:prstGeom prst="rect">
            <a:avLst/>
          </a:prstGeom>
          <a:solidFill>
            <a:srgbClr val="F5F0E6"/>
          </a:solidFill>
          <a:ln w="15875">
            <a:solidFill>
              <a:srgbClr val="1418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2926080"/>
            <a:ext cx="2560320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307" y="30449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" y="36576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E9B79A"/>
                </a:solidFill>
                <a:latin typeface="Arial Black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187" y="466344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2A2E3A"/>
                </a:solidFill>
                <a:latin typeface="Helvetica"/>
              </a:rPr>
              <a:t>Fresh GPS ping in the last few minutes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1227" y="2926080"/>
            <a:ext cx="2560320" cy="3108960"/>
          </a:xfrm>
          <a:prstGeom prst="rect">
            <a:avLst/>
          </a:prstGeom>
          <a:solidFill>
            <a:srgbClr val="F5F0E6"/>
          </a:solidFill>
          <a:ln w="15875">
            <a:solidFill>
              <a:srgbClr val="1418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1227" y="2926080"/>
            <a:ext cx="2560320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1227" y="30449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ESTIMATED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6576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E9B79A"/>
                </a:solidFill>
                <a:latin typeface="Arial Black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4107" y="466344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2A2E3A"/>
                </a:solidFill>
                <a:latin typeface="Helvetica"/>
              </a:rPr>
              <a:t>Projected from last known speed during short blackout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0147" y="2926080"/>
            <a:ext cx="2560320" cy="3108960"/>
          </a:xfrm>
          <a:prstGeom prst="rect">
            <a:avLst/>
          </a:prstGeom>
          <a:solidFill>
            <a:srgbClr val="F5F0E6"/>
          </a:solidFill>
          <a:ln w="15875">
            <a:solidFill>
              <a:srgbClr val="1418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0147" y="2926080"/>
            <a:ext cx="2560320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0147" y="30449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LAST_KNOWN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147" y="36576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E9B79A"/>
                </a:solidFill>
                <a:latin typeface="Arial Blac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3027" y="466344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2A2E3A"/>
                </a:solidFill>
                <a:latin typeface="Helvetica"/>
              </a:rPr>
              <a:t>Blackout too long — freeze position, mark uncertain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99067" y="2926080"/>
            <a:ext cx="2560320" cy="3108960"/>
          </a:xfrm>
          <a:prstGeom prst="rect">
            <a:avLst/>
          </a:prstGeom>
          <a:solidFill>
            <a:srgbClr val="F5F0E6"/>
          </a:solidFill>
          <a:ln w="15875">
            <a:solidFill>
              <a:srgbClr val="1418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99067" y="2926080"/>
            <a:ext cx="2560320" cy="5486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99067" y="30449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 Black"/>
              </a:rPr>
              <a:t>OFF_ROUTE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9067" y="3657600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E9B79A"/>
                </a:solidFill>
                <a:latin typeface="Arial Black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1947" y="466344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2A2E3A"/>
                </a:solidFill>
                <a:latin typeface="Helvetica"/>
              </a:rPr>
              <a:t>Three consecutive packets outside the corridor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Helvetica"/>
              </a:rPr>
              <a:t>RURALSYNC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4864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141824"/>
                </a:solidFill>
                <a:latin typeface="Arial Black"/>
              </a:rPr>
              <a:t>Cold-Start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 i="1">
                <a:solidFill>
                  <a:srgbClr val="2A2E3A"/>
                </a:solidFill>
                <a:latin typeface="Georgia"/>
              </a:rPr>
              <a:t>On day one the historical table is empty. A four-step fallback chain means the engine never fails to produce an ETA.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Hardcoded defaults — ~30 km/h highway, ~25 mixed, ~15 town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Seed from the published bus schedule (stop-to-stop times)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Seed from OSRM driving-time estimates per segment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Optional test drive per route for the highest-fidelity seed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Fallback chain: bucket → segment → route → default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286000"/>
            <a:ext cx="3108960" cy="39972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Helvetica"/>
              </a:rPr>
              <a:t>RURALSYNC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4864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141824"/>
                </a:solidFill>
                <a:latin typeface="Arial Black"/>
              </a:rPr>
              <a:t>What the Engine Writes to the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 i="1">
                <a:solidFill>
                  <a:srgbClr val="2A2E3A"/>
                </a:solidFill>
                <a:latin typeface="Georgia"/>
              </a:rPr>
              <a:t>A single contract: Person 3 reads these rows, the engine guarantees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Bus position (lat, lon, timestamp)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Next stop and ETAs for all upcoming stops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Status flag — LIVE / ESTIMATED / LAST_KNOWN / OFF_ROUTE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Confidence score 0–1 — drives wording ("12 min" vs "~12 min")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286000"/>
            <a:ext cx="3108960" cy="17765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2000" b="1" i="0">
                <a:solidFill>
                  <a:srgbClr val="E9B79A"/>
                </a:solidFill>
                <a:latin typeface="Arial Black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C2410C"/>
                </a:solidFill>
                <a:latin typeface="Helvetica"/>
              </a:rPr>
              <a:t>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154680"/>
            <a:ext cx="73152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338328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800" b="1" i="0">
                <a:solidFill>
                  <a:srgbClr val="141824"/>
                </a:solidFill>
                <a:latin typeface="Arial Black"/>
              </a:rPr>
              <a:t>Person 3 — Passenger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Helvetica"/>
              </a:rPr>
              <a:t>RURALSYNC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4864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141824"/>
                </a:solidFill>
                <a:latin typeface="Arial Black"/>
              </a:rPr>
              <a:t>Reaching Every Passenger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 i="1">
                <a:solidFill>
                  <a:srgbClr val="2A2E3A"/>
                </a:solidFill>
                <a:latin typeface="Georgia"/>
              </a:rPr>
              <a:t>Smartphone-free by design. SMS and IVR work on any handset; the dashboard and display board cover operators and waiting passengers.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SMS query handler: text a bus number, get an ETA back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IVR call flow: speaks the ETA in the chosen regional language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Authority dashboard: live map, alerts, adherence view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Stop-side display board: next bus + ETA in local language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Maintains the query log that drives divert auto-alerts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286000"/>
            <a:ext cx="310896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2000" b="1" i="0">
                <a:solidFill>
                  <a:srgbClr val="E9B79A"/>
                </a:solidFill>
                <a:latin typeface="Arial Black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C2410C"/>
                </a:solidFill>
                <a:latin typeface="Helvetica"/>
              </a:rPr>
              <a:t>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154680"/>
            <a:ext cx="73152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338328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800" b="1" i="0">
                <a:solidFill>
                  <a:srgbClr val="141824"/>
                </a:solidFill>
                <a:latin typeface="Arial Black"/>
              </a:rPr>
              <a:t>Divert Alert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Helvetica"/>
              </a:rPr>
              <a:t>RURALSYNC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4864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141824"/>
                </a:solidFill>
                <a:latin typeface="Arial Black"/>
              </a:rPr>
              <a:t>End-to-End Divert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 i="1">
                <a:solidFill>
                  <a:srgbClr val="2A2E3A"/>
                </a:solidFill>
                <a:latin typeface="Georgia"/>
              </a:rPr>
              <a:t>Fully automated — no operator action required to notify affected passengers.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Engine detects 3 consecutive off-corridor packets → OFF_ROUTE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Writes alert row to DB, flashes banner on authority dashboard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Looks up recent query log for that bus (last N hours)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Auto-sends SMS / IVR to every recent querier in their language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Operator notified simultaneously — no manual step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286000"/>
            <a:ext cx="3108960" cy="4145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2000" b="1" i="0">
                <a:solidFill>
                  <a:srgbClr val="E9B79A"/>
                </a:solidFill>
                <a:latin typeface="Arial Black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7432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 i="0">
                <a:solidFill>
                  <a:srgbClr val="C2410C"/>
                </a:solidFill>
                <a:latin typeface="Helvetica"/>
              </a:rPr>
              <a:t>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154680"/>
            <a:ext cx="73152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338328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800" b="1" i="0">
                <a:solidFill>
                  <a:srgbClr val="141824"/>
                </a:solidFill>
                <a:latin typeface="Arial Black"/>
              </a:rPr>
              <a:t>Tech Stack &amp;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Helvetica"/>
              </a:rPr>
              <a:t>RURALSYNC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4864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141824"/>
                </a:solidFill>
                <a:latin typeface="Arial Black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 i="1">
                <a:solidFill>
                  <a:srgbClr val="2A2E3A"/>
                </a:solidFill>
                <a:latin typeface="Georgia"/>
              </a:rPr>
              <a:t>Open-source where possible, paid services only where they earn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Backend — Python (FastAPI / Flask)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Database — PostgreSQL + PostGIS for geospatial queries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Routing — self-hosted OSRM over OpenStreetMap data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Telephony — SMS gateway + IVR provider (Exotel / Twilio)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Hardware — low-cost GPS module + 2G modem on each bus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286000"/>
            <a:ext cx="310896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1" i="0">
                <a:solidFill>
                  <a:srgbClr val="C2410C"/>
                </a:solidFill>
                <a:latin typeface="Helvetica"/>
              </a:rPr>
              <a:t>RURALSYNC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22960"/>
            <a:ext cx="54864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0">
                <a:solidFill>
                  <a:srgbClr val="141824"/>
                </a:solidFill>
                <a:latin typeface="Arial Black"/>
              </a:rPr>
              <a:t>Status &amp; Pilot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 i="1">
                <a:solidFill>
                  <a:srgbClr val="2A2E3A"/>
                </a:solidFill>
                <a:latin typeface="Georgia"/>
              </a:rPr>
              <a:t>Prototype works end-to-end on simulated data; next step is hardware-in-the-loop.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Phase 1 — bench test with simulator (done)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Phase 2 — single bus, single route, schedule-seeded ETAs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Phase 3 — 5 routes, dashboard + SMS live, ground-truth collection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2410C"/>
                </a:solidFill>
                <a:latin typeface="Helvetica"/>
              </a:rPr>
              <a:t>—  </a:t>
            </a:r>
            <a:r>
              <a:rPr sz="1800">
                <a:solidFill>
                  <a:srgbClr val="2A2E3A"/>
                </a:solidFill>
                <a:latin typeface="Helvetica"/>
              </a:rPr>
              <a:t>Phase 4 — historical learning active, accuracy review at 4 weeks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2286000"/>
            <a:ext cx="3108960" cy="17765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707D"/>
                </a:solidFill>
                <a:latin typeface="Helvetica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3931920"/>
            <a:ext cx="7772400" cy="437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65760"/>
            <a:ext cx="2011680" cy="268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005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C2410C"/>
                </a:solidFill>
                <a:latin typeface="Helvetica"/>
              </a:rPr>
              <a:t>WISH  ·  IIT BOMBAY  ·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54864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5800" b="1" i="0">
                <a:solidFill>
                  <a:srgbClr val="141824"/>
                </a:solidFill>
                <a:latin typeface="Arial Black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0" i="1">
                <a:solidFill>
                  <a:srgbClr val="2A2E3A"/>
                </a:solidFill>
                <a:latin typeface="Georgia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 i="0">
                <a:solidFill>
                  <a:srgbClr val="6B707D"/>
                </a:solidFill>
                <a:latin typeface="Helvetica"/>
              </a:rPr>
              <a:t>WISH Project   ·   IIT Bombay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